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D6CC"/>
                </a:solidFill>
                <a:latin typeface="Aptos"/>
              </a:rPr>
              <a:t>SUBMISSION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Execution Report</a:t>
            </a:r>
            <a:br/>
            <a:r>
              <a:rPr sz="3800" b="1">
                <a:solidFill>
                  <a:srgbClr val="FFFFFF"/>
                </a:solidFill>
                <a:latin typeface="Aptos"/>
              </a:rPr>
              <a:t>and QA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2E0E9"/>
                </a:solidFill>
                <a:latin typeface="Aptos"/>
              </a:rPr>
              <a:t>Python QA Automation for Financial Services Sales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1C9D7"/>
                </a:solidFill>
                <a:latin typeface="Aptos"/>
              </a:rPr>
              <a:t>Validation window | 01 May 2026 - 30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1188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QA</a:t>
            </a:r>
            <a:br/>
            <a:r>
              <a:rPr sz="2600" b="1">
                <a:solidFill>
                  <a:srgbClr val="FFFFFF"/>
                </a:solidFill>
                <a:latin typeface="Aptos"/>
              </a:rPr>
              <a:t>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82.4%</a:t>
            </a:r>
            <a:br/>
            <a:r>
              <a:rPr sz="2200" b="1">
                <a:solidFill>
                  <a:srgbClr val="FFFFFF"/>
                </a:solidFill>
                <a:latin typeface="Aptos"/>
              </a:rPr>
              <a:t>PASS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01 |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Executive decision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" cy="54864"/>
          </a:xfrm>
          <a:prstGeom prst="rect">
            <a:avLst/>
          </a:prstGeom>
          <a:solidFill>
            <a:srgbClr val="E0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103120" cy="1280160"/>
          </a:xfrm>
          <a:prstGeom prst="roundRect">
            <a:avLst/>
          </a:prstGeom>
          <a:solidFill>
            <a:srgbClr val="F1F6F9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828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6C7A"/>
                </a:solidFill>
                <a:latin typeface="Aptos"/>
              </a:rPr>
              <a:t>TOTAL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9196"/>
                </a:solidFill>
                <a:latin typeface="Apto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18287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7A"/>
                </a:solidFill>
                <a:latin typeface="Aptos"/>
              </a:rPr>
              <a:t>Stages 2-5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103120" cy="1280160"/>
          </a:xfrm>
          <a:prstGeom prst="roundRect">
            <a:avLst/>
          </a:prstGeom>
          <a:solidFill>
            <a:srgbClr val="F1F6F9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783080"/>
            <a:ext cx="1828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6C7A"/>
                </a:solidFill>
                <a:latin typeface="Aptos"/>
              </a:rPr>
              <a:t>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2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9196"/>
                </a:solidFill>
                <a:latin typeface="Aptos"/>
              </a:rPr>
              <a:t>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78608"/>
            <a:ext cx="18287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7A"/>
                </a:solidFill>
                <a:latin typeface="Aptos"/>
              </a:rPr>
              <a:t>82.4% overall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645920"/>
            <a:ext cx="2103120" cy="1280160"/>
          </a:xfrm>
          <a:prstGeom prst="roundRect">
            <a:avLst/>
          </a:prstGeom>
          <a:solidFill>
            <a:srgbClr val="F1F6F9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783080"/>
            <a:ext cx="1828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6C7A"/>
                </a:solidFill>
                <a:latin typeface="Aptos"/>
              </a:rPr>
              <a:t>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84832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BB3737"/>
                </a:solidFill>
                <a:latin typeface="Aptos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78608"/>
            <a:ext cx="18287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7A"/>
                </a:solidFill>
                <a:latin typeface="Aptos"/>
              </a:rPr>
              <a:t>16 High, 3 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645920"/>
            <a:ext cx="2103120" cy="1280160"/>
          </a:xfrm>
          <a:prstGeom prst="roundRect">
            <a:avLst/>
          </a:prstGeom>
          <a:solidFill>
            <a:srgbClr val="F1F6F9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783080"/>
            <a:ext cx="1828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6C7A"/>
                </a:solidFill>
                <a:latin typeface="Aptos"/>
              </a:rPr>
              <a:t>TEST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084832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0702D"/>
                </a:solidFill>
                <a:latin typeface="Aptos"/>
              </a:rPr>
              <a:t>138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78608"/>
            <a:ext cx="18287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C7A"/>
                </a:solidFill>
                <a:latin typeface="Aptos"/>
              </a:rPr>
              <a:t>Execution workbook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BB3737"/>
                </a:solidFill>
                <a:latin typeface="Aptos"/>
              </a:rPr>
              <a:t>NOT READY FOR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A37"/>
                </a:solidFill>
                <a:latin typeface="Aptos"/>
              </a:defRPr>
            </a:pPr>
            <a:r>
              <a:t>Financial aggregates and executive reporting do not reconcile to independently recomputed fact-table truth.</a:t>
            </a:r>
          </a:p>
          <a:p>
            <a:pPr>
              <a:spcAft>
                <a:spcPts val="1200"/>
              </a:spcAft>
              <a:defRPr sz="1600">
                <a:solidFill>
                  <a:srgbClr val="1E2A37"/>
                </a:solidFill>
                <a:latin typeface="Aptos"/>
              </a:defRPr>
            </a:pPr>
            <a:r>
              <a:t>Correct completeness and transformation issues, refresh summaries, and rerun affected validations before sign-off.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02 | EXECUTION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Validation coverage by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" cy="54864"/>
          </a:xfrm>
          <a:prstGeom prst="rect">
            <a:avLst/>
          </a:prstGeom>
          <a:solidFill>
            <a:srgbClr val="E0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1097280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77393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1188720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25312" y="17739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645920"/>
            <a:ext cx="1188720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7739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Failed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645920"/>
            <a:ext cx="1828800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17739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Pass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365760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3225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37"/>
                </a:solidFill>
                <a:latin typeface="Aptos"/>
              </a:rPr>
              <a:t>Source to Staging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03120"/>
            <a:ext cx="109728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32257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103120"/>
            <a:ext cx="118872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23225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103120"/>
            <a:ext cx="118872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23225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3737"/>
                </a:solidFill>
                <a:latin typeface="Aptos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103120"/>
            <a:ext cx="182880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3225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82.2%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74320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296265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37"/>
                </a:solidFill>
                <a:latin typeface="Aptos"/>
              </a:rPr>
              <a:t>Staging to Data Mart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743200"/>
            <a:ext cx="1097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296265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743200"/>
            <a:ext cx="1188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5312" y="296265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743200"/>
            <a:ext cx="1188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6912" y="296265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3737"/>
                </a:solidFill>
                <a:latin typeface="Aptos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274320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8512" y="29626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68.2%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83279"/>
            <a:ext cx="365760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602735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37"/>
                </a:solidFill>
                <a:latin typeface="Aptos"/>
              </a:rPr>
              <a:t>Data Mart Aggregates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383279"/>
            <a:ext cx="109728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3602735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3383279"/>
            <a:ext cx="118872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25312" y="3602735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3383279"/>
            <a:ext cx="118872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6912" y="3602735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3737"/>
                </a:solidFill>
                <a:latin typeface="Aptos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383279"/>
            <a:ext cx="1828800" cy="640080"/>
          </a:xfrm>
          <a:prstGeom prst="rect">
            <a:avLst/>
          </a:prstGeom>
          <a:solidFill>
            <a:srgbClr val="F1F6F9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3602735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66.7%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023359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424281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37"/>
                </a:solidFill>
                <a:latin typeface="Aptos"/>
              </a:rPr>
              <a:t>Reporting 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4023359"/>
            <a:ext cx="1097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424281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4023359"/>
            <a:ext cx="1188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25312" y="42428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4023359"/>
            <a:ext cx="1188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96912" y="42428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3737"/>
                </a:solidFill>
                <a:latin typeface="Aptos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4023359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68512" y="42428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Aptos"/>
              </a:rPr>
              <a:t>92.3%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4663440"/>
            <a:ext cx="3657600" cy="640080"/>
          </a:xfrm>
          <a:prstGeom prst="rect">
            <a:avLst/>
          </a:prstGeom>
          <a:solidFill>
            <a:srgbClr val="E2EFF4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488289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OVERALL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4663440"/>
            <a:ext cx="1097280" cy="640080"/>
          </a:xfrm>
          <a:prstGeom prst="rect">
            <a:avLst/>
          </a:prstGeom>
          <a:solidFill>
            <a:srgbClr val="E2EFF4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45152" y="4882896"/>
            <a:ext cx="10058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108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4663440"/>
            <a:ext cx="1188720" cy="640080"/>
          </a:xfrm>
          <a:prstGeom prst="rect">
            <a:avLst/>
          </a:prstGeom>
          <a:solidFill>
            <a:srgbClr val="E2EFF4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25312" y="488289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4663440"/>
            <a:ext cx="1188720" cy="640080"/>
          </a:xfrm>
          <a:prstGeom prst="rect">
            <a:avLst/>
          </a:prstGeom>
          <a:solidFill>
            <a:srgbClr val="E2EFF4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488289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B3737"/>
                </a:solidFill>
                <a:latin typeface="Aptos"/>
              </a:rPr>
              <a:t>19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4663440"/>
            <a:ext cx="1828800" cy="640080"/>
          </a:xfrm>
          <a:prstGeom prst="rect">
            <a:avLst/>
          </a:prstGeom>
          <a:solidFill>
            <a:srgbClr val="E2EFF4"/>
          </a:solidFill>
          <a:ln>
            <a:solidFill>
              <a:srgbClr val="D2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68512" y="48828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82.4%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03 |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Key defects and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" cy="54864"/>
          </a:xfrm>
          <a:prstGeom prst="rect">
            <a:avLst/>
          </a:prstGeom>
          <a:solidFill>
            <a:srgbClr val="E0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A37"/>
                </a:solidFill>
                <a:latin typeface="Aptos"/>
              </a:defRPr>
            </a:pPr>
            <a:r>
              <a:t>Retail: one source record missing in staging; one phantom record and one row-count mismatch in the data mart.</a:t>
            </a:r>
          </a:p>
          <a:p>
            <a:pPr>
              <a:spcAft>
                <a:spcPts val="1200"/>
              </a:spcAft>
              <a:defRPr sz="1700">
                <a:solidFill>
                  <a:srgbClr val="1E2A37"/>
                </a:solidFill>
                <a:latin typeface="Aptos"/>
              </a:defRPr>
            </a:pPr>
            <a:r>
              <a:t>Online: duplicated staging key ONL000020, a one-row data-mart shortfall, five transformation mismatches, and 366 folio mismatches.</a:t>
            </a:r>
          </a:p>
          <a:p>
            <a:pPr>
              <a:spcAft>
                <a:spcPts val="1200"/>
              </a:spcAft>
              <a:defRPr sz="1700">
                <a:solidFill>
                  <a:srgbClr val="1E2A37"/>
                </a:solidFill>
                <a:latin typeface="Aptos"/>
              </a:defRPr>
            </a:pPr>
            <a:r>
              <a:t>Distributor: one source-to-staging field mismatch and ten data-mart transformation mismatches.</a:t>
            </a:r>
          </a:p>
          <a:p>
            <a:pPr>
              <a:spcAft>
                <a:spcPts val="1200"/>
              </a:spcAft>
              <a:defRPr sz="1700">
                <a:solidFill>
                  <a:srgbClr val="1E2A37"/>
                </a:solidFill>
                <a:latin typeface="Aptos"/>
              </a:defRPr>
            </a:pPr>
            <a:r>
              <a:t>Channel, daily, product, and region summaries fail reconciliation; executive reporting has 305 view mismatches.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B3737"/>
                </a:solidFill>
                <a:latin typeface="Aptos"/>
              </a:rPr>
              <a:t>Impact: incorrect totals, counts, average tickets, and product/channel/region comparisons can affect executive and operational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04 | DASHBOARD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Reporting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" cy="54864"/>
          </a:xfrm>
          <a:prstGeom prst="rect">
            <a:avLst/>
          </a:prstGeom>
          <a:solidFill>
            <a:srgbClr val="E0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bmission_3_Executive_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44200" cy="77972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80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C7A"/>
                </a:solidFill>
                <a:latin typeface="Aptos"/>
              </a:rPr>
              <a:t>Live executive dashboard captured for the configured validation window. Displayed metrics are retained as evidence and reconciled by the validation suite.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05 |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Recommended closure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" cy="54864"/>
          </a:xfrm>
          <a:prstGeom prst="rect">
            <a:avLst/>
          </a:prstGeom>
          <a:solidFill>
            <a:srgbClr val="E0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Repair source-to-staging completeness, duplicate handling, and Distributor field mapping.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Reconcile transformation rules with the business specification, especially region, product, customer, and folio derivations.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Rebuild aggregate summary tables after fact-table corrections and compare them to independent recomputation.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Align reporting views and dashboard calculations with all-channel fact-table totals.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Add filter-combination validation and controlled retests for every resolved defect.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Exit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45896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196"/>
                </a:solidFill>
                <a:latin typeface="Aptos"/>
              </a:rPr>
              <a:t>No High-severity failures; all aggregate and executive metrics reconcile; retest evidence attached.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06 |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Submission evidence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" cy="54864"/>
          </a:xfrm>
          <a:prstGeom prst="rect">
            <a:avLst/>
          </a:prstGeom>
          <a:solidFill>
            <a:srgbClr val="E0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Validation execution report: Excel workbook with QA Summary, Defect Log, and Full Results.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Completed defect log: standalone workbook with expected/actual, evidence, severity, root cause, and business impact.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Evidence ZIP: API health and sales JSON, read-only SQL outputs, dashboard screenshot, and failed-row CSVs.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Execution logs ZIP: timestamped Stage 1 and run-all logs.</a:t>
            </a:r>
          </a:p>
          <a:p>
            <a:pPr>
              <a:spcAft>
                <a:spcPts val="1200"/>
              </a:spcAft>
              <a:defRPr sz="1800">
                <a:solidFill>
                  <a:srgbClr val="1E2A37"/>
                </a:solidFill>
                <a:latin typeface="Aptos"/>
              </a:defRPr>
            </a:pPr>
            <a:r>
              <a:t>Repository: github.com/Soumil630/talentfarm-etl-project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Submission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45896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196"/>
                </a:solidFill>
                <a:latin typeface="Aptos"/>
              </a:rPr>
              <a:t>C:\Users\talentfarm_learner\Downloads\TalentFarm_Submission_3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